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4" r:id="rId6"/>
    <p:sldId id="265" r:id="rId7"/>
    <p:sldId id="271" r:id="rId8"/>
    <p:sldId id="266" r:id="rId9"/>
    <p:sldId id="267" r:id="rId10"/>
    <p:sldId id="268" r:id="rId11"/>
    <p:sldId id="269" r:id="rId12"/>
    <p:sldId id="263" r:id="rId13"/>
    <p:sldId id="260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738"/>
    <p:restoredTop sz="66706"/>
  </p:normalViewPr>
  <p:slideViewPr>
    <p:cSldViewPr snapToGrid="0">
      <p:cViewPr varScale="1">
        <p:scale>
          <a:sx n="85" d="100"/>
          <a:sy n="85" d="100"/>
        </p:scale>
        <p:origin x="192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892AD-EDA9-234F-BF80-6C61E21362BC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7114AA-0203-FA4C-B437-2E72A1FCB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50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114AA-0203-FA4C-B437-2E72A1FCB1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792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User uploads videos (box)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algorithm analyzes it (line)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Players are detected and assigned IDs (box)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Tracking and coordinates extractions (line)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Map player position and output the coordinate data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114AA-0203-FA4C-B437-2E72A1FCB1B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39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input layer is a convolution that takes in the raw RGB video frame. It converts the 3-channel image into the first 32 feature maps and prepares the image for deeper processing.”</a:t>
            </a:r>
            <a:endParaRPr lang="en-US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Convolutional Layers — “extract visual features”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“Convolutional layers are the core of the model. They scan the image and learn visual features — starting from edges and textures, and eventually full shapes like players.”</a:t>
            </a:r>
          </a:p>
          <a:p>
            <a:endParaRPr lang="en-US" dirty="0"/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BatchNorm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Activation — “stabilize + enable complex learning”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“Batch Normalization keeps the values in the network stable, and the activation function adds non-linearity. Together they help the model learn more complex patterns reliably.”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C2f / CSP Blocks — “efficient deep feature extraction”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“These blocks are groups of smaller layers packaged together. They allow the model to learn deeper, richer features without becoming too slow or too large.”</a:t>
            </a:r>
          </a:p>
          <a:p>
            <a:endParaRPr lang="en-US" dirty="0"/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Downsampling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Upsampling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“multi-scale understanding”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Downsampling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reduces the resolution so the model can understand the big picture, while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upsampling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increases the resolution so it can detect small players. </a:t>
            </a:r>
            <a:br>
              <a:rPr lang="en-US" dirty="0"/>
            </a:br>
            <a:endParaRPr lang="en-US" dirty="0"/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SPPF — “global context extraction”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“SPPF stands for Spatial Pyramid Pooling Fast. It helps the model capture global context — like understanding both close-up and far-away players in the same frame.”</a:t>
            </a:r>
          </a:p>
          <a:p>
            <a:endParaRPr lang="en-US" dirty="0"/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Concat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Layers — “fuse multi-resolution features”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Concat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layers simply combine features from different layers. This fusion lets the model use both high-detail and low-detail information at the same time.”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Detection Head — “outputs player bounding boxes”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 detection head takes all the learned features and turns them into outputs — the final bounding boxes and confidence scores for each detected player.”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⭐ Bonus: 1-Sentence Summary (If You Want to Say It Before Moving Slides)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“Overall, the network uses a combination of convolution layers, efficient feature-extraction blocks, multi-scale processing, and a detection head to accurately locate and track players in the video.”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114AA-0203-FA4C-B437-2E72A1FCB1B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201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EF0AB-11BE-3D72-77F2-D0E2C0CF4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2A2C35-B9FA-4578-45E4-FBA6B9A64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6EF9FA-317C-72F7-3B18-BD258323A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by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defalut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model trains with 640x640 resolution. This default setting reduces our pixels and makes ball detection difficult because the ball already takes a few pixels.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Therefore, I increased the input resolution from to 1280x1280 which increased accuracy for ball detection but made training slower.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I set the batch size to 6 because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already slowed down the model by increasing the input resolution so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want to pick a smaller batch to speed up training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originally I wanted to use model=yolov8x.pt but it took way too long. I also decreased the number of epochs to 25 to save time and make it less computationally expensive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3BAAC-11EF-B29C-8DC2-F5C63B1605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114AA-0203-FA4C-B437-2E72A1FCB1B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457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3FE2A-6C20-4A92-D54F-A7EACAB2A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F9E74F-5F41-C208-2DDA-ACD34C66C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29C8B5-52B2-EA00-B0EB-EDF661322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39AA6-D037-1FAC-5981-08513DE76F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114AA-0203-FA4C-B437-2E72A1FCB1B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3175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E0704-2A97-12F3-62E3-E7A43C316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3B78FF-2C5A-A55E-9A14-0B7C273B5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79B7E7-0001-FCA4-FF18-C73DA964C9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 (P)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“How many detections were correct?”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precision = few false positives.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model has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very high precision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early on.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 (R)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“How many real players did the model find?”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 recall = many missed detections.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epoch 1, recall was very low (22%), but it improved later.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mAP50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Accuracy when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IoU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threshold = 0.5.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MAIN detection score.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mAP50-95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 accuracy at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IoU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thresholds 0.5 → 0.95.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Harder metric. Good models are often ~0.5.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85E27-BC7D-7CCD-EFC3-5654A8E600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114AA-0203-FA4C-B437-2E72A1FCB1B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445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27E60-127C-216A-90A8-1B3EBEDCF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7C984C-0771-88A0-45AC-D493272AC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52BB0-5B33-63D7-A050-5F34B7296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ECCD3-DDA7-D49C-E764-0F6376B6A9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114AA-0203-FA4C-B437-2E72A1FCB1B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5905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ByteTrack</a:t>
            </a:r>
            <a:r>
              <a:rPr lang="en-US" dirty="0"/>
              <a:t> algorithm to to assign all objects unique tracker IDs and to track their movement throughout the video.</a:t>
            </a:r>
          </a:p>
          <a:p>
            <a:r>
              <a:rPr lang="en-US" dirty="0"/>
              <a:t>I used </a:t>
            </a:r>
            <a:r>
              <a:rPr lang="en-US" dirty="0" err="1"/>
              <a:t>Kmeans</a:t>
            </a:r>
            <a:r>
              <a:rPr lang="en-US" dirty="0"/>
              <a:t> to create clusters of players, which is how I divided them by teams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114AA-0203-FA4C-B437-2E72A1FCB1B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8992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114AA-0203-FA4C-B437-2E72A1FCB1B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3645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114AA-0203-FA4C-B437-2E72A1FCB1B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192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32928-D18C-5A43-B9B6-64CEE5CA7F5B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8320-4A13-8847-9AC4-391D421C3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628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32928-D18C-5A43-B9B6-64CEE5CA7F5B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8320-4A13-8847-9AC4-391D421C3E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9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32928-D18C-5A43-B9B6-64CEE5CA7F5B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8320-4A13-8847-9AC4-391D421C3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8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32928-D18C-5A43-B9B6-64CEE5CA7F5B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8320-4A13-8847-9AC4-391D421C3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120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32928-D18C-5A43-B9B6-64CEE5CA7F5B}" type="datetimeFigureOut">
              <a:rPr lang="en-US" smtClean="0"/>
              <a:t>12/2/25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8320-4A13-8847-9AC4-391D421C3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0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32928-D18C-5A43-B9B6-64CEE5CA7F5B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8320-4A13-8847-9AC4-391D421C3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49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32928-D18C-5A43-B9B6-64CEE5CA7F5B}" type="datetimeFigureOut">
              <a:rPr lang="en-US" smtClean="0"/>
              <a:t>12/2/25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8320-4A13-8847-9AC4-391D421C3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32928-D18C-5A43-B9B6-64CEE5CA7F5B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8320-4A13-8847-9AC4-391D421C3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065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32928-D18C-5A43-B9B6-64CEE5CA7F5B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8320-4A13-8847-9AC4-391D421C3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150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32928-D18C-5A43-B9B6-64CEE5CA7F5B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8320-4A13-8847-9AC4-391D421C3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20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32928-D18C-5A43-B9B6-64CEE5CA7F5B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8320-4A13-8847-9AC4-391D421C3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89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0832928-D18C-5A43-B9B6-64CEE5CA7F5B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2888320-4A13-8847-9AC4-391D421C3E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of a globe and graph&#10;&#10;AI-generated content may be incorrect.">
            <a:extLst>
              <a:ext uri="{FF2B5EF4-FFF2-40B4-BE49-F238E27FC236}">
                <a16:creationId xmlns:a16="http://schemas.microsoft.com/office/drawing/2014/main" id="{550A1D99-9868-90A1-1CF6-C3F08532C23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51541" y="6242995"/>
            <a:ext cx="502259" cy="50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8010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of a globe and graph&#10;&#10;AI-generated content may be incorrect.">
            <a:extLst>
              <a:ext uri="{FF2B5EF4-FFF2-40B4-BE49-F238E27FC236}">
                <a16:creationId xmlns:a16="http://schemas.microsoft.com/office/drawing/2014/main" id="{5B9A854F-4890-AB9F-869E-C41A786E6F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49" r="9089" b="14728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D71802-7B79-6B2E-0327-A87B9835C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/>
              <a:t>Smart Soccer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7216D-FBCE-B445-5B01-8BACA3A7D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By: Daniel Tshiani</a:t>
            </a:r>
          </a:p>
          <a:p>
            <a:pPr algn="l"/>
            <a:r>
              <a:rPr lang="en-US" sz="2000" dirty="0"/>
              <a:t>DGT-International</a:t>
            </a:r>
          </a:p>
        </p:txBody>
      </p:sp>
    </p:spTree>
    <p:extLst>
      <p:ext uri="{BB962C8B-B14F-4D97-AF65-F5344CB8AC3E}">
        <p14:creationId xmlns:p14="http://schemas.microsoft.com/office/powerpoint/2010/main" val="241316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A6A3F-7151-3F17-1872-524A456A1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Table of Context</a:t>
            </a:r>
          </a:p>
        </p:txBody>
      </p:sp>
      <p:pic>
        <p:nvPicPr>
          <p:cNvPr id="6" name="Picture 5" descr="A group of robots sitting at a table with laptops and football players&#10;&#10;AI-generated content may be incorrect.">
            <a:extLst>
              <a:ext uri="{FF2B5EF4-FFF2-40B4-BE49-F238E27FC236}">
                <a16:creationId xmlns:a16="http://schemas.microsoft.com/office/drawing/2014/main" id="{3542E0CE-46AE-D892-A251-A751DCA908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466" r="-1" b="1556"/>
          <a:stretch>
            <a:fillRect/>
          </a:stretch>
        </p:blipFill>
        <p:spPr>
          <a:xfrm>
            <a:off x="838200" y="1825625"/>
            <a:ext cx="5181600" cy="4351338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A768D-4FCE-52FB-FCDD-BD8C246C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200" dirty="0"/>
              <a:t>Motivation &amp; Problem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Datasets Overview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System Pipeline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Object Detection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Player Tracking &amp; Pitch Mapping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Results &amp; Demonstrations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Limitations, Lessons Learned, Future Improvements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41770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4F68D-4188-43A8-F023-12C26822B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Motivation &amp; Problem</a:t>
            </a:r>
          </a:p>
        </p:txBody>
      </p:sp>
      <p:pic>
        <p:nvPicPr>
          <p:cNvPr id="7" name="Content Placeholder 6" descr="A logo of a globe and graph&#10;&#10;AI-generated content may be incorrect.">
            <a:extLst>
              <a:ext uri="{FF2B5EF4-FFF2-40B4-BE49-F238E27FC236}">
                <a16:creationId xmlns:a16="http://schemas.microsoft.com/office/drawing/2014/main" id="{70218BDF-552B-2259-FF4F-917567DC06F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50691" y="1620309"/>
            <a:ext cx="4356618" cy="4351338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FDB5218-5A2A-3EEA-1114-3F70108DBF8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584693" y="3202914"/>
            <a:ext cx="4396850" cy="1186127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432DD1F-73A2-9B01-F900-0DD7A19E5165}"/>
              </a:ext>
            </a:extLst>
          </p:cNvPr>
          <p:cNvSpPr txBox="1"/>
          <p:nvPr/>
        </p:nvSpPr>
        <p:spPr>
          <a:xfrm>
            <a:off x="5382426" y="3288145"/>
            <a:ext cx="120226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/>
              <a:t>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83287C-CDB8-C9F6-08EA-93B672AE18CC}"/>
              </a:ext>
            </a:extLst>
          </p:cNvPr>
          <p:cNvSpPr txBox="1"/>
          <p:nvPr/>
        </p:nvSpPr>
        <p:spPr>
          <a:xfrm>
            <a:off x="1073655" y="1651992"/>
            <a:ext cx="98198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“ We are missing out on a lot of clients because they don’t have GPS systems. Without player coordinate data, on-field positional analytics is complicated.” </a:t>
            </a:r>
          </a:p>
          <a:p>
            <a:pPr algn="ctr"/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– DSA Labs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241C33-8B70-AD60-47B4-597BB40B6DF2}"/>
              </a:ext>
            </a:extLst>
          </p:cNvPr>
          <p:cNvSpPr txBox="1"/>
          <p:nvPr/>
        </p:nvSpPr>
        <p:spPr>
          <a:xfrm>
            <a:off x="1250691" y="5516380"/>
            <a:ext cx="9642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DGT-International proposed to create a web app that reads soccer videos and extracts player coordinate data which can be used for further analytics.</a:t>
            </a:r>
          </a:p>
        </p:txBody>
      </p:sp>
    </p:spTree>
    <p:extLst>
      <p:ext uri="{BB962C8B-B14F-4D97-AF65-F5344CB8AC3E}">
        <p14:creationId xmlns:p14="http://schemas.microsoft.com/office/powerpoint/2010/main" val="1573305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ED9B7-FB04-133B-0B36-EE954B121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Data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6C9AD2-AFDE-BD3F-5BF3-F5BD6423CD5B}"/>
              </a:ext>
            </a:extLst>
          </p:cNvPr>
          <p:cNvSpPr txBox="1"/>
          <p:nvPr/>
        </p:nvSpPr>
        <p:spPr>
          <a:xfrm>
            <a:off x="959370" y="1690688"/>
            <a:ext cx="94887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Bunndesliga</a:t>
            </a:r>
            <a:r>
              <a:rPr lang="en-US" dirty="0"/>
              <a:t>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Jakub Michalczyk, Maggie, Mirko Janetzke, Moritz Michael Mücke, Ryan Holbrook, and Uwe Dick. DFL - Bundesliga Data Shootout. https://</a:t>
            </a:r>
            <a:r>
              <a:rPr lang="en-US" dirty="0" err="1"/>
              <a:t>kaggle.com</a:t>
            </a:r>
            <a:r>
              <a:rPr lang="en-US" dirty="0"/>
              <a:t>/competitions/</a:t>
            </a:r>
            <a:r>
              <a:rPr lang="en-US" dirty="0" err="1"/>
              <a:t>dfl</a:t>
            </a:r>
            <a:r>
              <a:rPr lang="en-US" dirty="0"/>
              <a:t>-</a:t>
            </a:r>
            <a:r>
              <a:rPr lang="en-US" dirty="0" err="1"/>
              <a:t>bundesliga</a:t>
            </a:r>
            <a:r>
              <a:rPr lang="en-US" dirty="0"/>
              <a:t>-data-shootout, 2022. Kaggle.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RoboFlow</a:t>
            </a:r>
            <a:r>
              <a:rPr lang="en-US" dirty="0"/>
              <a:t>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Roboflow</a:t>
            </a:r>
            <a:r>
              <a:rPr lang="en-US" dirty="0"/>
              <a:t>. (2025). Football-players-detection dataset [Open source dataset]. </a:t>
            </a:r>
            <a:r>
              <a:rPr lang="en-US" dirty="0" err="1"/>
              <a:t>Roboflow</a:t>
            </a:r>
            <a:r>
              <a:rPr lang="en-US" dirty="0"/>
              <a:t> Universe. https://</a:t>
            </a:r>
            <a:r>
              <a:rPr lang="en-US" dirty="0" err="1"/>
              <a:t>universe.roboflow.com</a:t>
            </a:r>
            <a:r>
              <a:rPr lang="en-US" dirty="0"/>
              <a:t>/roboflow-jvuqo-players-detection-3zvbc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DGT-International Custom Dataset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My old soccer videos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3C0FDF-8DF0-6733-8FA4-CE242FEB8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556" y="4896425"/>
            <a:ext cx="2397093" cy="15922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4ED700-72C7-3BF5-6A9D-89B92F265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458" y="4262916"/>
            <a:ext cx="3229986" cy="180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23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C3A7D-03EF-6218-153C-F416C5B11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30CA9-079F-D299-E7C2-3B39B4580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5652"/>
            <a:ext cx="10515600" cy="1325563"/>
          </a:xfrm>
        </p:spPr>
        <p:txBody>
          <a:bodyPr/>
          <a:lstStyle/>
          <a:p>
            <a:r>
              <a:rPr lang="en-US" dirty="0"/>
              <a:t>3. System Pipeline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2B0AC7B-C00A-3447-2C33-3FEF5A0B8D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33036" y="2978696"/>
            <a:ext cx="3298393" cy="18502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52D528-63CB-7483-477A-8E32F2B44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16" y="2952785"/>
            <a:ext cx="3300653" cy="18502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965971-9A4C-044F-095B-FBA590659A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4773" y="591583"/>
            <a:ext cx="3325411" cy="18502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0EDDA2-67DD-974D-0ED2-DE03E7E486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4774" y="4338037"/>
            <a:ext cx="3325411" cy="1928380"/>
          </a:xfrm>
          <a:prstGeom prst="rect">
            <a:avLst/>
          </a:prstGeom>
        </p:spPr>
      </p:pic>
      <p:sp>
        <p:nvSpPr>
          <p:cNvPr id="3" name="Down Arrow 2">
            <a:extLst>
              <a:ext uri="{FF2B5EF4-FFF2-40B4-BE49-F238E27FC236}">
                <a16:creationId xmlns:a16="http://schemas.microsoft.com/office/drawing/2014/main" id="{D2385295-CA14-322E-9002-49E153DDE532}"/>
              </a:ext>
            </a:extLst>
          </p:cNvPr>
          <p:cNvSpPr/>
          <p:nvPr/>
        </p:nvSpPr>
        <p:spPr>
          <a:xfrm>
            <a:off x="433466" y="1797219"/>
            <a:ext cx="3508948" cy="104315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BA8581-D19C-5185-013D-CB2DC8CF44FB}"/>
              </a:ext>
            </a:extLst>
          </p:cNvPr>
          <p:cNvSpPr txBox="1"/>
          <p:nvPr/>
        </p:nvSpPr>
        <p:spPr>
          <a:xfrm>
            <a:off x="1378471" y="1927084"/>
            <a:ext cx="1618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 uploads video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8406B7F2-D1B8-584D-CD20-52E7B6A2A47F}"/>
              </a:ext>
            </a:extLst>
          </p:cNvPr>
          <p:cNvSpPr/>
          <p:nvPr/>
        </p:nvSpPr>
        <p:spPr>
          <a:xfrm>
            <a:off x="3379068" y="2840374"/>
            <a:ext cx="1353967" cy="27169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C89D60-9560-BAE6-4F0F-0EA4A3CDE186}"/>
              </a:ext>
            </a:extLst>
          </p:cNvPr>
          <p:cNvSpPr txBox="1"/>
          <p:nvPr/>
        </p:nvSpPr>
        <p:spPr>
          <a:xfrm>
            <a:off x="3360223" y="3717665"/>
            <a:ext cx="12591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SSI Algorithm Analyzes it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6FC285-E6E6-550F-82B8-AEE8C538C38A}"/>
              </a:ext>
            </a:extLst>
          </p:cNvPr>
          <p:cNvSpPr/>
          <p:nvPr/>
        </p:nvSpPr>
        <p:spPr>
          <a:xfrm>
            <a:off x="8031428" y="3092477"/>
            <a:ext cx="3322371" cy="737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601E2B-9502-2189-E9AE-AB518A7EFD1C}"/>
              </a:ext>
            </a:extLst>
          </p:cNvPr>
          <p:cNvSpPr txBox="1"/>
          <p:nvPr/>
        </p:nvSpPr>
        <p:spPr>
          <a:xfrm>
            <a:off x="8031429" y="3067586"/>
            <a:ext cx="3322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Coordinates are extracted &amp; mapped for visual confirmation</a:t>
            </a:r>
          </a:p>
        </p:txBody>
      </p:sp>
      <p:sp>
        <p:nvSpPr>
          <p:cNvPr id="17" name="Up Arrow 16">
            <a:extLst>
              <a:ext uri="{FF2B5EF4-FFF2-40B4-BE49-F238E27FC236}">
                <a16:creationId xmlns:a16="http://schemas.microsoft.com/office/drawing/2014/main" id="{BD8A27E0-558B-E873-A479-D05E2C4AD3AD}"/>
              </a:ext>
            </a:extLst>
          </p:cNvPr>
          <p:cNvSpPr/>
          <p:nvPr/>
        </p:nvSpPr>
        <p:spPr>
          <a:xfrm>
            <a:off x="10010140" y="2457252"/>
            <a:ext cx="494676" cy="64633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E41DB348-8953-B8EB-42EE-C714300678C0}"/>
              </a:ext>
            </a:extLst>
          </p:cNvPr>
          <p:cNvSpPr/>
          <p:nvPr/>
        </p:nvSpPr>
        <p:spPr>
          <a:xfrm>
            <a:off x="10957810" y="3829654"/>
            <a:ext cx="614597" cy="508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842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DFF37-9171-D179-1D93-0125214D2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Object Detection Architecture (part 1 of 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B70F9-84F9-7C2D-683F-6B0056148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2727" y="1615750"/>
            <a:ext cx="2863123" cy="8126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Yolov8s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373C70-20E0-ADA6-8FD4-FA3A9056E30F}"/>
              </a:ext>
            </a:extLst>
          </p:cNvPr>
          <p:cNvSpPr/>
          <p:nvPr/>
        </p:nvSpPr>
        <p:spPr>
          <a:xfrm>
            <a:off x="838200" y="2353456"/>
            <a:ext cx="1573968" cy="37011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4DDCE6-7A13-B6B1-856C-84F419719A63}"/>
              </a:ext>
            </a:extLst>
          </p:cNvPr>
          <p:cNvSpPr/>
          <p:nvPr/>
        </p:nvSpPr>
        <p:spPr>
          <a:xfrm>
            <a:off x="4412727" y="2353455"/>
            <a:ext cx="3366548" cy="3823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8EE9F3-28D3-7696-4E45-1051885A84BB}"/>
              </a:ext>
            </a:extLst>
          </p:cNvPr>
          <p:cNvSpPr/>
          <p:nvPr/>
        </p:nvSpPr>
        <p:spPr>
          <a:xfrm>
            <a:off x="9276408" y="2353456"/>
            <a:ext cx="2103623" cy="3823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F51D7D-C595-8032-4964-B792177379C5}"/>
              </a:ext>
            </a:extLst>
          </p:cNvPr>
          <p:cNvSpPr txBox="1"/>
          <p:nvPr/>
        </p:nvSpPr>
        <p:spPr>
          <a:xfrm>
            <a:off x="9276408" y="2638269"/>
            <a:ext cx="21036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Output Layer</a:t>
            </a:r>
          </a:p>
          <a:p>
            <a:endParaRPr lang="en-US" dirty="0"/>
          </a:p>
          <a:p>
            <a:r>
              <a:rPr lang="en-US" dirty="0"/>
              <a:t>Players</a:t>
            </a:r>
          </a:p>
          <a:p>
            <a:r>
              <a:rPr lang="en-US" dirty="0"/>
              <a:t>Refs</a:t>
            </a:r>
          </a:p>
          <a:p>
            <a:r>
              <a:rPr lang="en-US" dirty="0"/>
              <a:t>Ball</a:t>
            </a:r>
          </a:p>
          <a:p>
            <a:r>
              <a:rPr lang="en-US" dirty="0"/>
              <a:t>Goalkeepers</a:t>
            </a:r>
          </a:p>
          <a:p>
            <a:r>
              <a:rPr lang="en-US" dirty="0"/>
              <a:t>Background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75EA66-F8BA-CE97-9DCD-9A52F631979B}"/>
              </a:ext>
            </a:extLst>
          </p:cNvPr>
          <p:cNvSpPr txBox="1"/>
          <p:nvPr/>
        </p:nvSpPr>
        <p:spPr>
          <a:xfrm>
            <a:off x="4607599" y="2638269"/>
            <a:ext cx="317167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127 Hidden Layers</a:t>
            </a:r>
          </a:p>
          <a:p>
            <a:endParaRPr lang="en-US" dirty="0"/>
          </a:p>
          <a:p>
            <a:r>
              <a:rPr lang="en-US" dirty="0"/>
              <a:t>Convolutional</a:t>
            </a:r>
          </a:p>
          <a:p>
            <a:r>
              <a:rPr lang="en-US" dirty="0" err="1"/>
              <a:t>BatchNorm</a:t>
            </a:r>
            <a:r>
              <a:rPr lang="en-US" dirty="0"/>
              <a:t> + activation</a:t>
            </a:r>
          </a:p>
          <a:p>
            <a:r>
              <a:rPr lang="en-US" dirty="0"/>
              <a:t>C2f /CSP Blocks</a:t>
            </a:r>
          </a:p>
          <a:p>
            <a:r>
              <a:rPr lang="en-US" dirty="0"/>
              <a:t>Down/Up Sampling</a:t>
            </a:r>
          </a:p>
          <a:p>
            <a:r>
              <a:rPr lang="en-US" dirty="0"/>
              <a:t>SPPF</a:t>
            </a:r>
          </a:p>
          <a:p>
            <a:r>
              <a:rPr lang="en-US" dirty="0" err="1"/>
              <a:t>Concat</a:t>
            </a:r>
            <a:endParaRPr lang="en-US" dirty="0"/>
          </a:p>
          <a:p>
            <a:endParaRPr lang="en-US" dirty="0"/>
          </a:p>
          <a:p>
            <a:r>
              <a:rPr lang="en-US" dirty="0"/>
              <a:t>~ 11M parameters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B08EB-AD80-264C-6ACD-BE1F1550A56C}"/>
              </a:ext>
            </a:extLst>
          </p:cNvPr>
          <p:cNvSpPr txBox="1"/>
          <p:nvPr/>
        </p:nvSpPr>
        <p:spPr>
          <a:xfrm>
            <a:off x="959370" y="2638269"/>
            <a:ext cx="14527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Input Layer</a:t>
            </a:r>
          </a:p>
          <a:p>
            <a:endParaRPr lang="en-US" dirty="0"/>
          </a:p>
          <a:p>
            <a:r>
              <a:rPr lang="en-US" dirty="0"/>
              <a:t>Raw RBG videos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8B6224-2397-84B7-C426-93B40F6A54C9}"/>
              </a:ext>
            </a:extLst>
          </p:cNvPr>
          <p:cNvCxnSpPr>
            <a:stCxn id="4" idx="3"/>
          </p:cNvCxnSpPr>
          <p:nvPr/>
        </p:nvCxnSpPr>
        <p:spPr>
          <a:xfrm flipV="1">
            <a:off x="2412168" y="2983043"/>
            <a:ext cx="2000559" cy="12209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25A045C-13AC-3114-5801-B0EC657595D5}"/>
              </a:ext>
            </a:extLst>
          </p:cNvPr>
          <p:cNvCxnSpPr>
            <a:stCxn id="4" idx="3"/>
          </p:cNvCxnSpPr>
          <p:nvPr/>
        </p:nvCxnSpPr>
        <p:spPr>
          <a:xfrm flipV="1">
            <a:off x="2412168" y="3838598"/>
            <a:ext cx="2000559" cy="3654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704F26C-C8AD-404E-86C8-3410848DF054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2543331" y="4204023"/>
            <a:ext cx="1869396" cy="611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E93E5E7-CBE9-9B5A-1884-16D3D7CB670D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412168" y="4204023"/>
            <a:ext cx="2000558" cy="4655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E1C104D-19F2-3501-ADAE-7EF79EC2D673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412168" y="4204023"/>
            <a:ext cx="2000558" cy="12923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7EFC834-46A2-C842-6FC4-279C5DC1B6C2}"/>
              </a:ext>
            </a:extLst>
          </p:cNvPr>
          <p:cNvCxnSpPr>
            <a:endCxn id="7" idx="1"/>
          </p:cNvCxnSpPr>
          <p:nvPr/>
        </p:nvCxnSpPr>
        <p:spPr>
          <a:xfrm>
            <a:off x="7779275" y="2983043"/>
            <a:ext cx="1497133" cy="6708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9128C11-86F1-93BD-832E-22F935CF411E}"/>
              </a:ext>
            </a:extLst>
          </p:cNvPr>
          <p:cNvCxnSpPr>
            <a:endCxn id="7" idx="1"/>
          </p:cNvCxnSpPr>
          <p:nvPr/>
        </p:nvCxnSpPr>
        <p:spPr>
          <a:xfrm>
            <a:off x="7779275" y="2638269"/>
            <a:ext cx="1497133" cy="10156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C6ACFCF-D596-029C-2EB4-A7E9FFDFBCDF}"/>
              </a:ext>
            </a:extLst>
          </p:cNvPr>
          <p:cNvCxnSpPr>
            <a:endCxn id="6" idx="1"/>
          </p:cNvCxnSpPr>
          <p:nvPr/>
        </p:nvCxnSpPr>
        <p:spPr>
          <a:xfrm>
            <a:off x="7779275" y="3653932"/>
            <a:ext cx="1497133" cy="6112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C15DA91-C0E2-C03F-3A94-1CA45DD5332D}"/>
              </a:ext>
            </a:extLst>
          </p:cNvPr>
          <p:cNvCxnSpPr>
            <a:cxnSpLocks/>
          </p:cNvCxnSpPr>
          <p:nvPr/>
        </p:nvCxnSpPr>
        <p:spPr>
          <a:xfrm flipV="1">
            <a:off x="7779273" y="4265209"/>
            <a:ext cx="1497135" cy="1129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4C8F35E-8BF0-00C2-05BB-2F6D908A1E9B}"/>
              </a:ext>
            </a:extLst>
          </p:cNvPr>
          <p:cNvCxnSpPr>
            <a:cxnSpLocks/>
          </p:cNvCxnSpPr>
          <p:nvPr/>
        </p:nvCxnSpPr>
        <p:spPr>
          <a:xfrm>
            <a:off x="7779274" y="4574497"/>
            <a:ext cx="1497132" cy="304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34638D3-9CFB-4B1E-D58D-70B99A95292B}"/>
              </a:ext>
            </a:extLst>
          </p:cNvPr>
          <p:cNvCxnSpPr>
            <a:cxnSpLocks/>
          </p:cNvCxnSpPr>
          <p:nvPr/>
        </p:nvCxnSpPr>
        <p:spPr>
          <a:xfrm>
            <a:off x="7779274" y="3972393"/>
            <a:ext cx="1391582" cy="2928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BFCADB1-1F1D-40B6-84DC-09651036AD8E}"/>
              </a:ext>
            </a:extLst>
          </p:cNvPr>
          <p:cNvCxnSpPr>
            <a:cxnSpLocks/>
          </p:cNvCxnSpPr>
          <p:nvPr/>
        </p:nvCxnSpPr>
        <p:spPr>
          <a:xfrm>
            <a:off x="7779274" y="4879297"/>
            <a:ext cx="14971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1EF91AE-21AD-601A-D63F-C60A84091E3F}"/>
              </a:ext>
            </a:extLst>
          </p:cNvPr>
          <p:cNvCxnSpPr>
            <a:cxnSpLocks/>
          </p:cNvCxnSpPr>
          <p:nvPr/>
        </p:nvCxnSpPr>
        <p:spPr>
          <a:xfrm>
            <a:off x="7779274" y="5297031"/>
            <a:ext cx="14971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BCBC3CA-F243-CE91-9030-980AE4CFF66D}"/>
              </a:ext>
            </a:extLst>
          </p:cNvPr>
          <p:cNvCxnSpPr>
            <a:cxnSpLocks/>
          </p:cNvCxnSpPr>
          <p:nvPr/>
        </p:nvCxnSpPr>
        <p:spPr>
          <a:xfrm>
            <a:off x="7779274" y="5184097"/>
            <a:ext cx="1497132" cy="1129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B130474-2013-76AB-B041-7D53D1FD4799}"/>
              </a:ext>
            </a:extLst>
          </p:cNvPr>
          <p:cNvCxnSpPr>
            <a:cxnSpLocks/>
          </p:cNvCxnSpPr>
          <p:nvPr/>
        </p:nvCxnSpPr>
        <p:spPr>
          <a:xfrm>
            <a:off x="7779275" y="5666282"/>
            <a:ext cx="14971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AA13017-E847-3A1C-2DA2-9597F5E84994}"/>
              </a:ext>
            </a:extLst>
          </p:cNvPr>
          <p:cNvCxnSpPr>
            <a:cxnSpLocks/>
          </p:cNvCxnSpPr>
          <p:nvPr/>
        </p:nvCxnSpPr>
        <p:spPr>
          <a:xfrm flipV="1">
            <a:off x="7779274" y="5666282"/>
            <a:ext cx="1497133" cy="2698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4105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EC91E-D1C2-D69E-4569-71109A758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A79C5-67FE-F419-110B-1F7F54098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Object Detection Hyperparameters (part 2 0f 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385E9-8D57-DF53-C86A-2175E3306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Image size 1280</a:t>
            </a:r>
          </a:p>
          <a:p>
            <a:r>
              <a:rPr lang="en-US" dirty="0"/>
              <a:t>Batch 6</a:t>
            </a:r>
          </a:p>
          <a:p>
            <a:r>
              <a:rPr lang="en-US" dirty="0"/>
              <a:t>Epochs 25</a:t>
            </a:r>
          </a:p>
          <a:p>
            <a:r>
              <a:rPr lang="en-US" dirty="0"/>
              <a:t>Optimizer </a:t>
            </a:r>
            <a:r>
              <a:rPr lang="en-US" dirty="0" err="1"/>
              <a:t>AdamW</a:t>
            </a:r>
            <a:r>
              <a:rPr lang="en-US" dirty="0"/>
              <a:t> </a:t>
            </a:r>
          </a:p>
          <a:p>
            <a:r>
              <a:rPr lang="en-US" dirty="0"/>
              <a:t>303 training videos</a:t>
            </a:r>
          </a:p>
          <a:p>
            <a:r>
              <a:rPr lang="en-US" dirty="0"/>
              <a:t>54 validation videos</a:t>
            </a:r>
          </a:p>
        </p:txBody>
      </p:sp>
    </p:spTree>
    <p:extLst>
      <p:ext uri="{BB962C8B-B14F-4D97-AF65-F5344CB8AC3E}">
        <p14:creationId xmlns:p14="http://schemas.microsoft.com/office/powerpoint/2010/main" val="3114603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92E97-247C-76C0-F76A-38949B71A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3AEFE-9243-8103-8F8F-16A40733B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4. Object Detection Loss Terms (part 3 of 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7DB40-AFF5-25B3-52DC-E402BDB368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dirty="0"/>
              <a:t>Box loss -&gt; how well bounding boxes fit players</a:t>
            </a:r>
          </a:p>
          <a:p>
            <a:r>
              <a:rPr lang="en-US" dirty="0" err="1"/>
              <a:t>Cls_loss</a:t>
            </a:r>
            <a:r>
              <a:rPr lang="en-US" dirty="0"/>
              <a:t> -&gt; classification loss (detecting correct class)</a:t>
            </a:r>
          </a:p>
          <a:p>
            <a:r>
              <a:rPr lang="en-US" dirty="0" err="1"/>
              <a:t>Dfl_loss</a:t>
            </a:r>
            <a:r>
              <a:rPr lang="en-US" dirty="0"/>
              <a:t> -&gt; Distribution focal loss (localization precision)</a:t>
            </a:r>
          </a:p>
        </p:txBody>
      </p:sp>
      <p:pic>
        <p:nvPicPr>
          <p:cNvPr id="4" name="Picture 3" descr="A group of graphs showing loss&#10;&#10;AI-generated content may be incorrect.">
            <a:extLst>
              <a:ext uri="{FF2B5EF4-FFF2-40B4-BE49-F238E27FC236}">
                <a16:creationId xmlns:a16="http://schemas.microsoft.com/office/drawing/2014/main" id="{167C7141-78B3-F1A7-E4C4-6D0329109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961039"/>
            <a:ext cx="5181600" cy="40805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6858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2D7E2-5214-11ED-86F3-4EE935A42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E679F-0D96-964C-C993-48EE03AB9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4. Object Detection Validation Metrics (part 4 of 5)</a:t>
            </a:r>
          </a:p>
        </p:txBody>
      </p:sp>
      <p:pic>
        <p:nvPicPr>
          <p:cNvPr id="4" name="Picture 3" descr="A group of graphs with numbers&#10;&#10;AI-generated content may be incorrect.">
            <a:extLst>
              <a:ext uri="{FF2B5EF4-FFF2-40B4-BE49-F238E27FC236}">
                <a16:creationId xmlns:a16="http://schemas.microsoft.com/office/drawing/2014/main" id="{F249DD90-6E83-A1F8-5DE4-FE286BD70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026" y="1825625"/>
            <a:ext cx="3491948" cy="4351338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65717-0092-3CD4-027F-65E7A4807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Validation metrics</a:t>
            </a:r>
          </a:p>
          <a:p>
            <a:r>
              <a:rPr lang="en-US" dirty="0"/>
              <a:t>Precision</a:t>
            </a:r>
          </a:p>
          <a:p>
            <a:r>
              <a:rPr lang="en-US" dirty="0"/>
              <a:t>Recall</a:t>
            </a:r>
          </a:p>
          <a:p>
            <a:r>
              <a:rPr lang="en-US" dirty="0"/>
              <a:t>mAP50</a:t>
            </a:r>
          </a:p>
          <a:p>
            <a:r>
              <a:rPr lang="en-US" dirty="0"/>
              <a:t>mAP50-95</a:t>
            </a:r>
          </a:p>
        </p:txBody>
      </p:sp>
    </p:spTree>
    <p:extLst>
      <p:ext uri="{BB962C8B-B14F-4D97-AF65-F5344CB8AC3E}">
        <p14:creationId xmlns:p14="http://schemas.microsoft.com/office/powerpoint/2010/main" val="1326000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18296-B932-DE69-B96C-4EC5142C6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1548A-C274-1ECA-58C8-AD5B37F4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4. Object Detection  (part 5 of 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C1569-40F6-7F1D-6DAB-E1FB16AD7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Is the model good enough?</a:t>
            </a:r>
          </a:p>
          <a:p>
            <a:r>
              <a:rPr lang="en-US" dirty="0"/>
              <a:t>mAP50 ~ 0.86</a:t>
            </a:r>
          </a:p>
          <a:p>
            <a:r>
              <a:rPr lang="en-US" dirty="0"/>
              <a:t>Precision is 0.9</a:t>
            </a:r>
          </a:p>
          <a:p>
            <a:r>
              <a:rPr lang="en-US" dirty="0"/>
              <a:t>Recall is 0.82</a:t>
            </a:r>
          </a:p>
          <a:p>
            <a:r>
              <a:rPr lang="en-US" dirty="0"/>
              <a:t>Loss decreases normally</a:t>
            </a:r>
          </a:p>
        </p:txBody>
      </p:sp>
      <p:pic>
        <p:nvPicPr>
          <p:cNvPr id="5" name="Picture 4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745F43C6-D632-3AF6-AC0F-6FA8991B99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690" r="-3" b="-3"/>
          <a:stretch>
            <a:fillRect/>
          </a:stretch>
        </p:blipFill>
        <p:spPr>
          <a:xfrm>
            <a:off x="6172200" y="1825625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69125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71076-5F3B-98AD-DCE3-CB149220C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Player Tracking &amp; Pitch Mapping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7ECCDF6-4137-88CD-AE02-D426C8C21E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6082" y="2586128"/>
            <a:ext cx="4576013" cy="25715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04EDC3-45DA-8621-A456-B880DCFEA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2023" y="2586128"/>
            <a:ext cx="4233895" cy="25715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6EEEE8-7730-0B6F-9599-043B276018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7950" y="2870199"/>
            <a:ext cx="2000624" cy="123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011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73A07-C3A2-E2A1-84B9-EACCF81CE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Results &amp;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F2FF4-54BE-6E3D-D607-3F3A05DC4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425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5BA63-D645-F9FD-29E9-CD83330DC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Limitations &amp; 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3C9F2-A4B5-9A0D-6BE6-820862D37A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Limitations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Camera Angle</a:t>
            </a:r>
          </a:p>
          <a:p>
            <a:r>
              <a:rPr lang="en-US" dirty="0"/>
              <a:t>Jersey IDs</a:t>
            </a:r>
          </a:p>
          <a:p>
            <a:r>
              <a:rPr lang="en-US" dirty="0"/>
              <a:t>Player re-identification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37C89-22C2-2EA1-5FEB-1C6D6696AC4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Future Improvements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Extracting Event Data</a:t>
            </a:r>
          </a:p>
          <a:p>
            <a:r>
              <a:rPr lang="en-US" dirty="0"/>
              <a:t>Teams Statistics</a:t>
            </a:r>
          </a:p>
          <a:p>
            <a:r>
              <a:rPr lang="en-US" dirty="0"/>
              <a:t>Individual Statistics</a:t>
            </a:r>
          </a:p>
          <a:p>
            <a:r>
              <a:rPr lang="en-US" dirty="0"/>
              <a:t>Computing Speed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55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F34B40-9C78-E7CB-CDE8-8BEB35F62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of a globe and graph&#10;&#10;AI-generated content may be incorrect.">
            <a:extLst>
              <a:ext uri="{FF2B5EF4-FFF2-40B4-BE49-F238E27FC236}">
                <a16:creationId xmlns:a16="http://schemas.microsoft.com/office/drawing/2014/main" id="{2EA2E76E-40F3-5F7C-2AB6-386E932578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349" r="9089" b="14728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61DCF9-5C6D-8EC6-FE2A-6FE12FDAD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79" y="488532"/>
            <a:ext cx="4023360" cy="1690873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/>
              <a:t>Smart Soccer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9862F-8597-5238-2015-5EC7E2A7A7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79" y="2937778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By: Daniel Tshiani</a:t>
            </a:r>
          </a:p>
          <a:p>
            <a:pPr algn="l"/>
            <a:r>
              <a:rPr lang="en-US" sz="2000" dirty="0"/>
              <a:t>DGT-International</a:t>
            </a:r>
          </a:p>
          <a:p>
            <a:pPr algn="l"/>
            <a:r>
              <a:rPr lang="en-US" sz="2000" dirty="0"/>
              <a:t>https://DGT-</a:t>
            </a:r>
            <a:r>
              <a:rPr lang="en-US" sz="2000" dirty="0" err="1"/>
              <a:t>International.com</a:t>
            </a:r>
            <a:r>
              <a:rPr lang="en-US" sz="2000" dirty="0"/>
              <a:t> </a:t>
            </a:r>
          </a:p>
          <a:p>
            <a:pPr algn="l"/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B08C1D-B937-FBB0-852B-B20AE746EE9B}"/>
              </a:ext>
            </a:extLst>
          </p:cNvPr>
          <p:cNvSpPr txBox="1"/>
          <p:nvPr/>
        </p:nvSpPr>
        <p:spPr>
          <a:xfrm>
            <a:off x="477979" y="4904293"/>
            <a:ext cx="4023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16541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1199</TotalTime>
  <Words>1082</Words>
  <Application>Microsoft Macintosh PowerPoint</Application>
  <PresentationFormat>Widescreen</PresentationFormat>
  <Paragraphs>147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Smart Soccer Insights</vt:lpstr>
      <vt:lpstr>Table of Context</vt:lpstr>
      <vt:lpstr>1. Motivation &amp; Problem</vt:lpstr>
      <vt:lpstr>2. Data Overview</vt:lpstr>
      <vt:lpstr>3. System Pipeline</vt:lpstr>
      <vt:lpstr>4. Object Detection Architecture (part 1 of 5)</vt:lpstr>
      <vt:lpstr>4. Object Detection Hyperparameters (part 2 0f 5)</vt:lpstr>
      <vt:lpstr>4. Object Detection Loss Terms (part 3 of 5)</vt:lpstr>
      <vt:lpstr>4. Object Detection Validation Metrics (part 4 of 5)</vt:lpstr>
      <vt:lpstr>4. Object Detection  (part 5 of 5)</vt:lpstr>
      <vt:lpstr>5. Player Tracking &amp; Pitch Mapping</vt:lpstr>
      <vt:lpstr>6. Results &amp; Demonstration</vt:lpstr>
      <vt:lpstr>7. Limitations &amp; Future Improvements</vt:lpstr>
      <vt:lpstr>Smart Soccer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Tshiani</dc:creator>
  <cp:lastModifiedBy>Daniel Tshiani</cp:lastModifiedBy>
  <cp:revision>18</cp:revision>
  <dcterms:created xsi:type="dcterms:W3CDTF">2025-11-28T19:50:57Z</dcterms:created>
  <dcterms:modified xsi:type="dcterms:W3CDTF">2025-12-03T01:22:32Z</dcterms:modified>
</cp:coreProperties>
</file>